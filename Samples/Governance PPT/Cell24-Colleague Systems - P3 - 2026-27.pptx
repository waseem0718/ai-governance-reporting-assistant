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3" r:id="rId4"/>
  </p:sldMasterIdLst>
  <p:notesMasterIdLst>
    <p:notesMasterId r:id="rId10"/>
  </p:notesMasterIdLst>
  <p:sldIdLst>
    <p:sldId id="628" r:id="rId5"/>
    <p:sldId id="648" r:id="rId6"/>
    <p:sldId id="650" r:id="rId7"/>
    <p:sldId id="655" r:id="rId8"/>
    <p:sldId id="270" r:id="rId9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701536-0FC4-4526-93AF-D6D239554E89}">
          <p14:sldIdLst>
            <p14:sldId id="628"/>
            <p14:sldId id="648"/>
            <p14:sldId id="650"/>
            <p14:sldId id="655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1FA"/>
    <a:srgbClr val="B19DF3"/>
    <a:srgbClr val="0101F5"/>
    <a:srgbClr val="111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F11AA-269D-6DAD-DF6E-D3C681A4D6D8}" v="3" dt="2026-06-30T05:55:46.4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60" y="5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Incident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P4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5000"/>
                    <a:satMod val="130000"/>
                  </a:schemeClr>
                </a:gs>
                <a:gs pos="34000">
                  <a:schemeClr val="accent1">
                    <a:shade val="87000"/>
                    <a:satMod val="125000"/>
                  </a:schemeClr>
                </a:gs>
                <a:gs pos="70000">
                  <a:schemeClr val="accent1">
                    <a:tint val="100000"/>
                    <a:shade val="90000"/>
                    <a:satMod val="130000"/>
                  </a:schemeClr>
                </a:gs>
                <a:gs pos="100000">
                  <a:schemeClr val="accent1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EC-45E9-AC79-0B77BDAD41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85000"/>
                    <a:satMod val="130000"/>
                  </a:schemeClr>
                </a:gs>
                <a:gs pos="34000">
                  <a:schemeClr val="accent2">
                    <a:shade val="87000"/>
                    <a:satMod val="125000"/>
                  </a:schemeClr>
                </a:gs>
                <a:gs pos="70000">
                  <a:schemeClr val="accent2">
                    <a:tint val="100000"/>
                    <a:shade val="90000"/>
                    <a:satMod val="130000"/>
                  </a:schemeClr>
                </a:gs>
                <a:gs pos="100000">
                  <a:schemeClr val="accent2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EC-45E9-AC79-0B77BDAD41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85000"/>
                    <a:satMod val="130000"/>
                  </a:schemeClr>
                </a:gs>
                <a:gs pos="34000">
                  <a:schemeClr val="accent3">
                    <a:shade val="87000"/>
                    <a:satMod val="125000"/>
                  </a:schemeClr>
                </a:gs>
                <a:gs pos="70000">
                  <a:schemeClr val="accent3">
                    <a:tint val="100000"/>
                    <a:shade val="90000"/>
                    <a:satMod val="130000"/>
                  </a:schemeClr>
                </a:gs>
                <a:gs pos="100000">
                  <a:schemeClr val="accent3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5EC-45E9-AC79-0B77BDAD41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P1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85000"/>
                    <a:satMod val="130000"/>
                  </a:schemeClr>
                </a:gs>
                <a:gs pos="34000">
                  <a:schemeClr val="accent4">
                    <a:shade val="87000"/>
                    <a:satMod val="125000"/>
                  </a:schemeClr>
                </a:gs>
                <a:gs pos="70000">
                  <a:schemeClr val="accent4">
                    <a:tint val="100000"/>
                    <a:shade val="90000"/>
                    <a:satMod val="130000"/>
                  </a:schemeClr>
                </a:gs>
                <a:gs pos="100000">
                  <a:schemeClr val="accent4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3-65EC-45E9-AC79-0B77BDAD41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04616016"/>
        <c:axId val="204613136"/>
        <c:axId val="0"/>
      </c:bar3DChart>
      <c:catAx>
        <c:axId val="2046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13136"/>
        <c:crosses val="autoZero"/>
        <c:auto val="1"/>
        <c:lblAlgn val="ctr"/>
        <c:lblOffset val="100"/>
        <c:noMultiLvlLbl val="0"/>
      </c:catAx>
      <c:valAx>
        <c:axId val="204613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 of incidents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1601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C6038AF-A342-43CC-B28C-95A62E09D726}" type="datetimeFigureOut">
              <a:rPr lang="en-US"/>
              <a:pPr>
                <a:defRPr/>
              </a:pPr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D9504E6-B404-426E-BE08-735F79D33CDB}" type="slidenum">
              <a:rPr lang="en-US" altLang="cs-CZ"/>
              <a:pPr>
                <a:defRPr/>
              </a:pPr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13551909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9504E6-B404-426E-BE08-735F79D33CDB}" type="slidenum">
              <a:rPr lang="en-US" altLang="cs-CZ" smtClean="0"/>
              <a:pPr>
                <a:defRPr/>
              </a:pPr>
              <a:t>1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445179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37277A-96B6-4A58-8684-2F2FCEBD38E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1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10CC2C-95FA-4B99-B12E-3311518926DE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96912A-549C-4B2A-B959-631C9F351870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7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EB6278-1E2E-4B7C-B047-93450411A937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6B9884-4D42-4927-B421-8D0FE22091DC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292153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44C026-2995-47F4-8465-B71A3EDF5B28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C97B-CD74-489D-A8C2-07CDC93FE012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2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6"/>
            <a:ext cx="401193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ABDCBC-DE0F-49DD-A0C8-63AE79AFC0A0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DE04BC-0EF4-41D9-8A5E-252957513E32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290722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5"/>
            <a:ext cx="401193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B3C972-CA36-4BA9-B4AB-F77670BE3CB7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3519E-6FD1-4653-8566-DDD460F17D33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337872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7362EE-C66A-4AB4-B0DB-2B64842FBA69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EBC4B0-7482-4ACB-8BC3-EFFFC016C65D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208780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9339BA-8F60-4E46-BF07-DDA87C58C343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D86C22-940C-4106-B3DF-8C61D2CE4144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160112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8229" y="6459787"/>
            <a:ext cx="212754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86FDFA3-716A-4A25-AC1F-0BF30280E08C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C3B3470-5532-4595-9FF0-C5E5D52D4AFF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351145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2198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754939-8312-4F0F-A9FE-11DC5031D2D2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1127A6-DA76-4F7C-9953-F7D63823B616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15183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9A463E-9E58-44D2-BC5A-ABC4EC9B0840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E2A28-BEE9-4E94-9106-90242DDA14A4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151170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C541BB-5D42-445D-AB37-1A5C2DD78B2E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DFF0-719E-4492-BE93-C2404AA25E3C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119375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9906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2BE443D-1443-4BAC-B72F-E8B7AF2067ED}" type="datetimeFigureOut">
              <a:rPr lang="en-GB" smtClean="0"/>
              <a:pPr>
                <a:defRPr/>
              </a:pPr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A0DF271-BED1-43E1-9F7D-8A40B2EFDB5D}" type="slidenum">
              <a:rPr lang="en-GB" altLang="cs-CZ" smtClean="0"/>
              <a:pPr>
                <a:defRPr/>
              </a:pPr>
              <a:t>‹#›</a:t>
            </a:fld>
            <a:endParaRPr lang="en-GB" alt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39262D4-42E2-C3A0-429A-9207C18420E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088" y="6365875"/>
            <a:ext cx="17129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953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4" r:id="rId1"/>
    <p:sldLayoutId id="2147484295" r:id="rId2"/>
    <p:sldLayoutId id="2147484296" r:id="rId3"/>
    <p:sldLayoutId id="2147484297" r:id="rId4"/>
    <p:sldLayoutId id="2147484298" r:id="rId5"/>
    <p:sldLayoutId id="2147484299" r:id="rId6"/>
    <p:sldLayoutId id="2147484300" r:id="rId7"/>
    <p:sldLayoutId id="2147484301" r:id="rId8"/>
    <p:sldLayoutId id="2147484302" r:id="rId9"/>
    <p:sldLayoutId id="2147484303" r:id="rId10"/>
    <p:sldLayoutId id="214748430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C56B-1CE8-1B94-5ECC-7EBD12891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925" y="639097"/>
            <a:ext cx="5080820" cy="3686015"/>
          </a:xfrm>
        </p:spPr>
        <p:txBody>
          <a:bodyPr>
            <a:normAutofit/>
          </a:bodyPr>
          <a:lstStyle/>
          <a:p>
            <a:r>
              <a:rPr lang="en-US" sz="4400" b="1" spc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Colleagues Monthly Governance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66F0B-1F94-A7F1-C2E2-8C98089A8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924" y="4455621"/>
            <a:ext cx="5093844" cy="12386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cap="none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/>
                <a:cs typeface="Aldhabi"/>
              </a:rPr>
              <a:t>P03 – 2026/27 (4</a:t>
            </a:r>
            <a:r>
              <a:rPr lang="en-US" sz="1800" b="1" cap="none" baseline="30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/>
                <a:cs typeface="Aldhabi"/>
              </a:rPr>
              <a:t>th</a:t>
            </a:r>
            <a:r>
              <a:rPr lang="en-US" sz="1800" b="1" cap="none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/>
                <a:cs typeface="Aldhabi"/>
              </a:rPr>
              <a:t> May to 31</a:t>
            </a:r>
            <a:r>
              <a:rPr lang="en-US" sz="1800" b="1" cap="none" baseline="30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/>
                <a:cs typeface="Aldhabi"/>
              </a:rPr>
              <a:t>st</a:t>
            </a:r>
            <a:r>
              <a:rPr lang="en-US" sz="1800" b="1" cap="none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/>
                <a:cs typeface="Aldhabi"/>
              </a:rPr>
              <a:t> May)</a:t>
            </a:r>
          </a:p>
        </p:txBody>
      </p:sp>
      <p:pic>
        <p:nvPicPr>
          <p:cNvPr id="61" name="Graphic 60" descr="Meeting">
            <a:extLst>
              <a:ext uri="{FF2B5EF4-FFF2-40B4-BE49-F238E27FC236}">
                <a16:creationId xmlns:a16="http://schemas.microsoft.com/office/drawing/2014/main" id="{7B65AE02-C87E-0192-282D-2E172F004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124" y="2159132"/>
            <a:ext cx="3251068" cy="32510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4AE5AA-FB6C-2FD9-CC76-AD85C68D76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6400800"/>
            <a:ext cx="1455403" cy="4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37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438559"/>
              </p:ext>
            </p:extLst>
          </p:nvPr>
        </p:nvGraphicFramePr>
        <p:xfrm>
          <a:off x="0" y="1"/>
          <a:ext cx="9902581" cy="6913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1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1400">
                  <a:extLst>
                    <a:ext uri="{9D8B030D-6E8A-4147-A177-3AD203B41FA5}">
                      <a16:colId xmlns:a16="http://schemas.microsoft.com/office/drawing/2014/main" val="180071302"/>
                    </a:ext>
                  </a:extLst>
                </a:gridCol>
              </a:tblGrid>
              <a:tr h="243696"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0070C0"/>
                          </a:solidFill>
                        </a:rPr>
                        <a:t>Technology</a:t>
                      </a:r>
                      <a:r>
                        <a:rPr lang="en-GB" sz="1400" b="1" baseline="0">
                          <a:solidFill>
                            <a:srgbClr val="0070C0"/>
                          </a:solidFill>
                        </a:rPr>
                        <a:t> Monthly Run Report – Talent, Licensing, Peach , Compliance , DUBS , DASP  &amp; PTX</a:t>
                      </a:r>
                    </a:p>
                  </a:txBody>
                  <a:tcPr marL="107315" marR="107315" marT="25717" marB="2571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54">
                <a:tc gridSpan="2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Key Delivery Highlights / What Went Well</a:t>
                      </a:r>
                      <a:endParaRPr lang="en-US"/>
                    </a:p>
                  </a:txBody>
                  <a:tcPr marL="107315" marR="107315" marT="25717" marB="25717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034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70C0"/>
                        </a:buClr>
                        <a:buSzPct val="101000"/>
                        <a:buFont typeface="Wingdings" panose="05000000000000000000" pitchFamily="2" charset="2"/>
                        <a:buNone/>
                      </a:pPr>
                      <a:endParaRPr lang="en-US" sz="900" b="1" i="0" u="none" strike="noStrike" kern="1200" baseline="0" noProof="0" dirty="0">
                        <a:solidFill>
                          <a:srgbClr val="002060"/>
                        </a:solidFill>
                        <a:latin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Wingdings,Sans-Serif" panose="05000000000000000000" pitchFamily="2" charset="2"/>
                        <a:buNone/>
                      </a:pP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Licensing Database: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Licensing_Release_20260528 – Deployed in PPE. Business testing in progress. 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Successfully decommissioned the old On-premise servers and old VIP address for PROD and DR.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Address API Onboarding – In progress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,Sans-Serif" panose="05000000000000000000" pitchFamily="2" charset="2"/>
                        <a:buNone/>
                      </a:pPr>
                      <a:endParaRPr lang="en-US" sz="900" b="0" i="0" u="none" strike="noStrike" kern="1200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 panose="05000000000000000000" pitchFamily="2" charset="2"/>
                        <a:buNone/>
                      </a:pP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Peach :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Phase 10 - deployed in PPE, business testing is going on.​</a:t>
                      </a:r>
                    </a:p>
                    <a:p>
                      <a:pPr marL="285750" marR="0" lvl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Successfully decommissioned old On-premise servers and old VIP address for PROD and DR.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None/>
                      </a:pP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Talent Database:</a:t>
                      </a:r>
                    </a:p>
                    <a:p>
                      <a:pPr marL="285750" marR="0" lvl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Successfully decommissioned old On-premise servers and old VIP for PROD and DR.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None/>
                      </a:pP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None/>
                      </a:pP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DUBS / DASP: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Migration from Windows 2016 to 2022 - Completed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TLR for DUBS – Completed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User access review – In progress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1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Annual DR exercise for DUBS is postponed to mid-June due to activities related to exit of Broadcom.</a:t>
                      </a:r>
                      <a:endParaRPr lang="en-US" dirty="0"/>
                    </a:p>
                  </a:txBody>
                  <a:tcPr marL="107315" marR="107315" marT="25717" marB="25717"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900" b="0" i="0" u="none" strike="noStrike" kern="1200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None/>
                      </a:pP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Tesco Compliance Database: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Successfully decommissioned old On-premise servers and old VIP for PROD and DR.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,Sans-Serif"/>
                        <a:buNone/>
                        <a:tabLst/>
                        <a:defRPr/>
                      </a:pP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PTX: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TLR assessment for PTX - Completed</a:t>
                      </a:r>
                    </a:p>
                    <a:p>
                      <a:pPr marL="285750" marR="0" lvl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Updated all the profiles with appropriate category</a:t>
                      </a:r>
                    </a:p>
                    <a:p>
                      <a:pPr marL="285750" marR="0" lvl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Migration from Windows 2016 to Windows 2022</a:t>
                      </a:r>
                    </a:p>
                    <a:p>
                      <a:pPr marL="285750" marR="0" lvl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Mainframe-to-PTX : The Files are currently receiving on all the four servers both 2016 and 2022 servers.</a:t>
                      </a:r>
                    </a:p>
                    <a:p>
                      <a:pPr marL="285750" marR="0" lvl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SFG-to-PTX: We have successfully implemented the DPCM change for both the CDC and WDC servers, post check is going on.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The Automation of the files transfer has been implemented on the WDC servers - 2016, once its working as expected we will be implementing on new WDC server.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None/>
                      </a:pPr>
                      <a:endParaRPr lang="en-US" sz="900" b="1" i="0" u="none" strike="noStrike" kern="1200" baseline="0" noProof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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Windows patch update for May 2026 successfully applied for all the PROD &amp; DR.</a:t>
                      </a:r>
                    </a:p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"/>
                      </a:pP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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Successfully carried out the DR activity for all the </a:t>
                      </a:r>
                      <a:r>
                        <a:rPr lang="en-US" sz="1400" b="0" i="0" u="none" strike="noStrike" kern="1200" noProof="0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Arthaus</a:t>
                      </a: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Servers. Both Failover and Failback has been implemented without any issues. We got the business signed-off and updated in </a:t>
                      </a:r>
                      <a:r>
                        <a:rPr lang="en-US" sz="1400" b="0" i="0" u="none" strike="noStrike" kern="1200" noProof="0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Tescopedia</a:t>
                      </a: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as well.</a:t>
                      </a:r>
                      <a:b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</a:b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"/>
                      </a:pPr>
                      <a:r>
                        <a:rPr lang="en-US" sz="1400" b="0" i="0" u="none" strike="noStrike" kern="1200" noProof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Kenna vulnerability Score is </a:t>
                      </a:r>
                      <a:r>
                        <a:rPr lang="en-US" sz="1400" b="0" i="0" u="none" strike="noStrike" kern="1200" noProof="0" dirty="0">
                          <a:solidFill>
                            <a:srgbClr val="00B05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320</a:t>
                      </a:r>
                      <a:endParaRPr lang="en-US" sz="900" b="0" i="0" u="none" strike="noStrike" kern="1200" baseline="0" noProof="0" dirty="0">
                        <a:solidFill>
                          <a:srgbClr val="00B050"/>
                        </a:solidFill>
                        <a:latin typeface="Calibri"/>
                      </a:endParaRPr>
                    </a:p>
                  </a:txBody>
                  <a:tcPr marL="107315" marR="107315" marT="25717" marB="25717">
                    <a:solidFill>
                      <a:srgbClr val="E7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56901D7-5DB2-F31A-7B76-7F3BB82F58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449195" y="6435464"/>
            <a:ext cx="1455403" cy="4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6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2BD7-823E-1E27-8B92-61B20EF1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6E6ACC-2C60-1FE7-1FC5-B2E8CFC25F6A}"/>
              </a:ext>
            </a:extLst>
          </p:cNvPr>
          <p:cNvSpPr/>
          <p:nvPr/>
        </p:nvSpPr>
        <p:spPr>
          <a:xfrm>
            <a:off x="0" y="-3399"/>
            <a:ext cx="9834820" cy="6928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DB046-9DA7-1BE4-C8BF-1A45DB0F0502}"/>
              </a:ext>
            </a:extLst>
          </p:cNvPr>
          <p:cNvSpPr txBox="1"/>
          <p:nvPr/>
        </p:nvSpPr>
        <p:spPr>
          <a:xfrm>
            <a:off x="1692729" y="112486"/>
            <a:ext cx="575854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GB" b="1">
                <a:solidFill>
                  <a:srgbClr val="FFFFFF"/>
                </a:solidFill>
              </a:rPr>
              <a:t>Technology Monthly Run Report</a:t>
            </a:r>
          </a:p>
          <a:p>
            <a:pPr algn="ctr">
              <a:defRPr/>
            </a:pPr>
            <a:r>
              <a:rPr lang="en-GB" b="1">
                <a:solidFill>
                  <a:srgbClr val="FFFFFF"/>
                </a:solidFill>
              </a:rPr>
              <a:t>Talent, Licensing, Peach, Compliance, PTX , DUBS &amp; DASP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99394C-4517-5413-B91A-47005B7D04B8}"/>
              </a:ext>
            </a:extLst>
          </p:cNvPr>
          <p:cNvCxnSpPr/>
          <p:nvPr/>
        </p:nvCxnSpPr>
        <p:spPr>
          <a:xfrm>
            <a:off x="4947920" y="717082"/>
            <a:ext cx="0" cy="54238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21806E7-41E5-8B0B-FCF8-73F0BE096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83710"/>
              </p:ext>
            </p:extLst>
          </p:nvPr>
        </p:nvGraphicFramePr>
        <p:xfrm>
          <a:off x="73537" y="1790874"/>
          <a:ext cx="4853696" cy="2493780"/>
        </p:xfrm>
        <a:graphic>
          <a:graphicData uri="http://schemas.openxmlformats.org/drawingml/2006/table">
            <a:tbl>
              <a:tblPr/>
              <a:tblGrid>
                <a:gridCol w="2001735">
                  <a:extLst>
                    <a:ext uri="{9D8B030D-6E8A-4147-A177-3AD203B41FA5}">
                      <a16:colId xmlns:a16="http://schemas.microsoft.com/office/drawing/2014/main" val="2199154127"/>
                    </a:ext>
                  </a:extLst>
                </a:gridCol>
                <a:gridCol w="2851961">
                  <a:extLst>
                    <a:ext uri="{9D8B030D-6E8A-4147-A177-3AD203B41FA5}">
                      <a16:colId xmlns:a16="http://schemas.microsoft.com/office/drawing/2014/main" val="1075983987"/>
                    </a:ext>
                  </a:extLst>
                </a:gridCol>
              </a:tblGrid>
              <a:tr h="4156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Breached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457807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Tickets Resolved in SLA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808936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System Availability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220910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Significant Issue / Action Items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28791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Adds/POC/Automation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203183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Appreciations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194107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32638F8-9264-0633-52A4-33CFDD8EC6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032517"/>
              </p:ext>
            </p:extLst>
          </p:nvPr>
        </p:nvGraphicFramePr>
        <p:xfrm>
          <a:off x="4947920" y="862838"/>
          <a:ext cx="4958079" cy="5278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408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4805-D5D2-4431-9A01-6D5FE291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A894C0-345A-ED31-42B4-C3C04E1CB897}"/>
              </a:ext>
            </a:extLst>
          </p:cNvPr>
          <p:cNvSpPr/>
          <p:nvPr/>
        </p:nvSpPr>
        <p:spPr>
          <a:xfrm>
            <a:off x="0" y="-3399"/>
            <a:ext cx="9834820" cy="6928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CB822-A568-7084-01DF-AB8ABD6EF8EE}"/>
              </a:ext>
            </a:extLst>
          </p:cNvPr>
          <p:cNvSpPr txBox="1"/>
          <p:nvPr/>
        </p:nvSpPr>
        <p:spPr>
          <a:xfrm>
            <a:off x="152400" y="112485"/>
            <a:ext cx="96824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GB" b="1">
                <a:solidFill>
                  <a:schemeClr val="bg1"/>
                </a:solidFill>
              </a:rPr>
              <a:t>Licensing API , Data Profiling , ATS , PCT , Sage 50 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017577-E1A7-653D-5745-C2F84D79F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835410"/>
              </p:ext>
            </p:extLst>
          </p:nvPr>
        </p:nvGraphicFramePr>
        <p:xfrm>
          <a:off x="0" y="723507"/>
          <a:ext cx="9834820" cy="613449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834820">
                  <a:extLst>
                    <a:ext uri="{9D8B030D-6E8A-4147-A177-3AD203B41FA5}">
                      <a16:colId xmlns:a16="http://schemas.microsoft.com/office/drawing/2014/main" val="4212108545"/>
                    </a:ext>
                  </a:extLst>
                </a:gridCol>
              </a:tblGrid>
              <a:tr h="433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Key Delivery Highlights / What Went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191418"/>
                  </a:ext>
                </a:extLst>
              </a:tr>
              <a:tr h="5700747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Licensing API:</a:t>
                      </a:r>
                      <a:endParaRPr lang="en-US"/>
                    </a:p>
                    <a:p>
                      <a:pPr marL="685800" marR="0" lvl="1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,Sans-Serif" panose="05000000000000000000" pitchFamily="2" charset="2"/>
                        <a:buChar char="•"/>
                      </a:pP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KEYTAB configured in DR Server &amp; DR Activity – Completed</a:t>
                      </a:r>
                      <a:endParaRPr lang="en-US"/>
                    </a:p>
                    <a:p>
                      <a:pPr marL="685800" marR="0" lvl="1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,Sans-Serif" panose="05000000000000000000" pitchFamily="2" charset="2"/>
                        <a:buChar char="•"/>
                      </a:pP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TKS(v1.32.13) - K8s version updated in both PPE &amp; PROD Environment</a:t>
                      </a:r>
                    </a:p>
                    <a:p>
                      <a:pPr marL="685800" marR="0" lvl="1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,Sans-Serif" panose="05000000000000000000" pitchFamily="2" charset="2"/>
                        <a:buChar char="•"/>
                      </a:pP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TLR Initial Discussion – Completed</a:t>
                      </a:r>
                    </a:p>
                    <a:p>
                      <a:pPr marL="685800" marR="0" lvl="1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,Sans-Serif" panose="05000000000000000000" pitchFamily="2" charset="2"/>
                        <a:buChar char="•"/>
                      </a:pPr>
                      <a:endParaRPr lang="en-US" sz="1400" b="0" i="0" u="none" strike="noStrike" kern="1200" baseline="0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DATA Profiling:</a:t>
                      </a:r>
                    </a:p>
                    <a:p>
                      <a:pPr marL="628650" marR="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1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ROI</a:t>
                      </a: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- 9 modification rules have been completed and went live.</a:t>
                      </a:r>
                    </a:p>
                    <a:p>
                      <a:pPr marL="628650" marR="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1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UK</a:t>
                      </a: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- All rules had been built and went to live.</a:t>
                      </a:r>
                      <a:endParaRPr lang="en-US" sz="1400" b="1" i="0" u="none" strike="noStrike" kern="1200" baseline="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</a:pPr>
                      <a:r>
                        <a:rPr lang="en-US" sz="1400" b="1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IOM</a:t>
                      </a: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- 54 out of 56 Rules has been completed</a:t>
                      </a:r>
                      <a:endParaRPr lang="en-US" sz="1400" b="1" i="0" u="none" strike="noStrike" kern="120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  <a:p>
                      <a:pPr marL="628650" marR="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Data Profiling server on Windows 2016 had been decommissioned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Avature (ATS):</a:t>
                      </a: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Migration from Windows 2016 to Windows 2022 and old ATS server and PPE server were decommissioned.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sz="1400" b="1" i="0" u="none" strike="noStrike" kern="120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Sage 50: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Assisting  product  team to extract the 2018-2019 tax year historic data for Oakwood colleague to Central legal platform 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Perceptyx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(PYX):</a:t>
                      </a: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Working with Tesco Product &amp;  TPM's for the one-time data load to  </a:t>
                      </a:r>
                      <a:r>
                        <a:rPr lang="en-US" sz="1400" b="0">
                          <a:latin typeface="Times New Roman"/>
                        </a:rPr>
                        <a:t>PYX</a:t>
                      </a:r>
                      <a:r>
                        <a:rPr lang="en-US" sz="1400" b="0" i="0" u="none" strike="noStrike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for various survey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462463" algn="l"/>
                        </a:tabLst>
                        <a:defRPr/>
                      </a:pPr>
                      <a:r>
                        <a:rPr lang="en-US" sz="1400" b="1" i="0" u="none" strike="noStrike" kern="1200" noProof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PCT Automation:</a:t>
                      </a: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ZELLIS migration – Phase 1  - Completed and currently there are no new tasks and waiting for the updates from Uma</a:t>
                      </a: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strike="noStrike" kern="1200" baseline="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Development Effort</a:t>
                      </a:r>
                      <a:r>
                        <a:rPr lang="en-US" sz="1400" b="1" i="0" u="none" strike="noStrike" kern="1200" baseline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/>
                        <a:buChar char="•"/>
                      </a:pPr>
                      <a:endParaRPr lang="en-US" sz="1400" b="0" i="0" u="none" strike="noStrike" kern="1200" baseline="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/>
                        <a:buNone/>
                      </a:pPr>
                      <a:endParaRPr lang="en-US" sz="1400" b="0" i="0" u="none" strike="noStrike" kern="1200" baseline="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/>
                        <a:buChar char="•"/>
                      </a:pPr>
                      <a:endParaRPr lang="en-US" sz="1400" b="0" i="0" u="none" strike="noStrike" kern="1200" baseline="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/>
                        <a:buChar char="•"/>
                      </a:pPr>
                      <a:endParaRPr lang="en-US" sz="1400" b="0" i="0" u="none" strike="noStrike" kern="1200" baseline="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32192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78F9094-6119-B14F-4E55-1DCF280306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400800"/>
            <a:ext cx="1455403" cy="42253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57C7CD-7AA3-FF66-3595-49687FB23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24999"/>
              </p:ext>
            </p:extLst>
          </p:nvPr>
        </p:nvGraphicFramePr>
        <p:xfrm>
          <a:off x="2017290" y="5575300"/>
          <a:ext cx="3921759" cy="122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253">
                  <a:extLst>
                    <a:ext uri="{9D8B030D-6E8A-4147-A177-3AD203B41FA5}">
                      <a16:colId xmlns:a16="http://schemas.microsoft.com/office/drawing/2014/main" val="2741596936"/>
                    </a:ext>
                  </a:extLst>
                </a:gridCol>
                <a:gridCol w="1307253">
                  <a:extLst>
                    <a:ext uri="{9D8B030D-6E8A-4147-A177-3AD203B41FA5}">
                      <a16:colId xmlns:a16="http://schemas.microsoft.com/office/drawing/2014/main" val="1746542435"/>
                    </a:ext>
                  </a:extLst>
                </a:gridCol>
                <a:gridCol w="1307253">
                  <a:extLst>
                    <a:ext uri="{9D8B030D-6E8A-4147-A177-3AD203B41FA5}">
                      <a16:colId xmlns:a16="http://schemas.microsoft.com/office/drawing/2014/main" val="2659434084"/>
                    </a:ext>
                  </a:extLst>
                </a:gridCol>
              </a:tblGrid>
              <a:tr h="3692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Feb – Apr 2026</a:t>
                      </a:r>
                      <a:br>
                        <a:rPr lang="en-US" sz="1100" dirty="0"/>
                      </a:br>
                      <a:r>
                        <a:rPr lang="en-US" sz="1100"/>
                        <a:t>(effort in 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May 2026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06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/>
                        <a:t>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99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ATS, Data profiling, </a:t>
                      </a:r>
                      <a:r>
                        <a:rPr lang="en-US" sz="1100" dirty="0" err="1"/>
                        <a:t>Perceptyx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88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1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97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Logo, company name&#10;&#10;Description automatically generated">
            <a:extLst>
              <a:ext uri="{FF2B5EF4-FFF2-40B4-BE49-F238E27FC236}">
                <a16:creationId xmlns:a16="http://schemas.microsoft.com/office/drawing/2014/main" id="{58A4BAF6-C47A-45A0-6FBC-BA6BEE471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8" r="-2" b="14314"/>
          <a:stretch/>
        </p:blipFill>
        <p:spPr>
          <a:xfrm>
            <a:off x="766476" y="1063989"/>
            <a:ext cx="8399050" cy="47236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16693E-C0C1-D8BA-DE5A-B732CC98DC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0" y="6400800"/>
            <a:ext cx="1455403" cy="4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675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103daf-657d-4425-b3ad-fa37cc7bf106">
      <Terms xmlns="http://schemas.microsoft.com/office/infopath/2007/PartnerControls"/>
    </lcf76f155ced4ddcb4097134ff3c332f>
    <TaxCatchAll xmlns="fb960abc-9a45-4571-8a8a-c42a585b64c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C12F8C5F802D4B9B42BC02E0E9DADA" ma:contentTypeVersion="10" ma:contentTypeDescription="Create a new document." ma:contentTypeScope="" ma:versionID="75a89b8f5f275fe6e8abcee486c8f3f1">
  <xsd:schema xmlns:xsd="http://www.w3.org/2001/XMLSchema" xmlns:xs="http://www.w3.org/2001/XMLSchema" xmlns:p="http://schemas.microsoft.com/office/2006/metadata/properties" xmlns:ns2="d0103daf-657d-4425-b3ad-fa37cc7bf106" xmlns:ns3="fb960abc-9a45-4571-8a8a-c42a585b64ca" targetNamespace="http://schemas.microsoft.com/office/2006/metadata/properties" ma:root="true" ma:fieldsID="7865b4f01e4d66daad5a12838fe6fa5b" ns2:_="" ns3:_="">
    <xsd:import namespace="d0103daf-657d-4425-b3ad-fa37cc7bf106"/>
    <xsd:import namespace="fb960abc-9a45-4571-8a8a-c42a585b6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03daf-657d-4425-b3ad-fa37cc7bf1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05a778e-f40e-41d7-91ed-d4baeae369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960abc-9a45-4571-8a8a-c42a585b64c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436fc02-da3b-4fbd-8334-5324fb815d17}" ma:internalName="TaxCatchAll" ma:showField="CatchAllData" ma:web="fb960abc-9a45-4571-8a8a-c42a585b64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134804-CC7B-488D-A98F-7660D182A813}">
  <ds:schemaRefs>
    <ds:schemaRef ds:uri="d0103daf-657d-4425-b3ad-fa37cc7bf106"/>
    <ds:schemaRef ds:uri="fb960abc-9a45-4571-8a8a-c42a585b64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F40637-D85C-4A5B-B0B5-FD0E77DF00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4E976-CFDC-4C5B-8F2B-DE3C74FD16D3}">
  <ds:schemaRefs>
    <ds:schemaRef ds:uri="d0103daf-657d-4425-b3ad-fa37cc7bf106"/>
    <ds:schemaRef ds:uri="fb960abc-9a45-4571-8a8a-c42a585b64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314f5b1-ef04-46e0-8957-be9652623f41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594</Words>
  <Application>Microsoft Office PowerPoint</Application>
  <PresentationFormat>A4 Paper (210x297 mm)</PresentationFormat>
  <Paragraphs>89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Abadi</vt:lpstr>
      <vt:lpstr>Arial</vt:lpstr>
      <vt:lpstr>Arial,Sans-Serif</vt:lpstr>
      <vt:lpstr>Calibri</vt:lpstr>
      <vt:lpstr>Calibri Light</vt:lpstr>
      <vt:lpstr>Times New Roman</vt:lpstr>
      <vt:lpstr>Wingdings</vt:lpstr>
      <vt:lpstr>Wingdings,Sans-Serif</vt:lpstr>
      <vt:lpstr>Retrospect</vt:lpstr>
      <vt:lpstr>Colleagues Monthly Governance Report</vt:lpstr>
      <vt:lpstr>PowerPoint Presentation</vt:lpstr>
      <vt:lpstr>PowerPoint Presentation</vt:lpstr>
      <vt:lpstr>PowerPoint Presentation</vt:lpstr>
      <vt:lpstr>PowerPoint Presentation</vt:lpstr>
    </vt:vector>
  </TitlesOfParts>
  <Company>Tesco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Adams, Stuart</dc:creator>
  <cp:lastModifiedBy>Kaleemullah, Waseemullah</cp:lastModifiedBy>
  <cp:revision>158</cp:revision>
  <dcterms:created xsi:type="dcterms:W3CDTF">2014-07-14T05:17:02Z</dcterms:created>
  <dcterms:modified xsi:type="dcterms:W3CDTF">2026-06-30T06:09:48Z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a3bcc5-af7f-4e3c-8d4c-726a9a6f8de8_Enabled">
    <vt:lpwstr>true</vt:lpwstr>
  </property>
  <property fmtid="{D5CDD505-2E9C-101B-9397-08002B2CF9AE}" pid="3" name="MSIP_Label_bfa3bcc5-af7f-4e3c-8d4c-726a9a6f8de8_SetDate">
    <vt:lpwstr>2021-08-24T08:22:05Z</vt:lpwstr>
  </property>
  <property fmtid="{D5CDD505-2E9C-101B-9397-08002B2CF9AE}" pid="4" name="MSIP_Label_bfa3bcc5-af7f-4e3c-8d4c-726a9a6f8de8_Method">
    <vt:lpwstr>Standard</vt:lpwstr>
  </property>
  <property fmtid="{D5CDD505-2E9C-101B-9397-08002B2CF9AE}" pid="5" name="MSIP_Label_bfa3bcc5-af7f-4e3c-8d4c-726a9a6f8de8_Name">
    <vt:lpwstr>bfa3bcc5-af7f-4e3c-8d4c-726a9a6f8de8</vt:lpwstr>
  </property>
  <property fmtid="{D5CDD505-2E9C-101B-9397-08002B2CF9AE}" pid="6" name="MSIP_Label_bfa3bcc5-af7f-4e3c-8d4c-726a9a6f8de8_SiteId">
    <vt:lpwstr>3928808b-8a46-426b-8f87-051a36bb2f91</vt:lpwstr>
  </property>
  <property fmtid="{D5CDD505-2E9C-101B-9397-08002B2CF9AE}" pid="7" name="MSIP_Label_bfa3bcc5-af7f-4e3c-8d4c-726a9a6f8de8_ActionId">
    <vt:lpwstr>f4993990-98c4-4ecb-9f70-b6ef49398943</vt:lpwstr>
  </property>
  <property fmtid="{D5CDD505-2E9C-101B-9397-08002B2CF9AE}" pid="8" name="MSIP_Label_bfa3bcc5-af7f-4e3c-8d4c-726a9a6f8de8_ContentBits">
    <vt:lpwstr>0</vt:lpwstr>
  </property>
  <property fmtid="{D5CDD505-2E9C-101B-9397-08002B2CF9AE}" pid="9" name="ContentTypeId">
    <vt:lpwstr>0x010100B7C12F8C5F802D4B9B42BC02E0E9DADA</vt:lpwstr>
  </property>
  <property fmtid="{D5CDD505-2E9C-101B-9397-08002B2CF9AE}" pid="10" name="MSIP_Label_f314f5b1-ef04-46e0-8957-be9652623f41_Enabled">
    <vt:lpwstr>true</vt:lpwstr>
  </property>
  <property fmtid="{D5CDD505-2E9C-101B-9397-08002B2CF9AE}" pid="11" name="MSIP_Label_f314f5b1-ef04-46e0-8957-be9652623f41_SetDate">
    <vt:lpwstr>2022-03-29T13:14:53Z</vt:lpwstr>
  </property>
  <property fmtid="{D5CDD505-2E9C-101B-9397-08002B2CF9AE}" pid="12" name="MSIP_Label_f314f5b1-ef04-46e0-8957-be9652623f41_Method">
    <vt:lpwstr>Standard</vt:lpwstr>
  </property>
  <property fmtid="{D5CDD505-2E9C-101B-9397-08002B2CF9AE}" pid="13" name="MSIP_Label_f314f5b1-ef04-46e0-8957-be9652623f41_Name">
    <vt:lpwstr>C2 - UK</vt:lpwstr>
  </property>
  <property fmtid="{D5CDD505-2E9C-101B-9397-08002B2CF9AE}" pid="14" name="MSIP_Label_f314f5b1-ef04-46e0-8957-be9652623f41_SiteId">
    <vt:lpwstr>8b87af7d-8647-4dc7-8df4-5f69a2011bb5</vt:lpwstr>
  </property>
  <property fmtid="{D5CDD505-2E9C-101B-9397-08002B2CF9AE}" pid="15" name="MSIP_Label_f314f5b1-ef04-46e0-8957-be9652623f41_ActionId">
    <vt:lpwstr>4c5af22a-c69a-4e47-a86d-7029230f176b</vt:lpwstr>
  </property>
  <property fmtid="{D5CDD505-2E9C-101B-9397-08002B2CF9AE}" pid="16" name="MSIP_Label_f314f5b1-ef04-46e0-8957-be9652623f41_ContentBits">
    <vt:lpwstr>3</vt:lpwstr>
  </property>
  <property fmtid="{D5CDD505-2E9C-101B-9397-08002B2CF9AE}" pid="17" name="MSIP_Label_bfa3bcc5-af7f-4e3c-8d4c-726a9a6f8de8_Tag">
    <vt:lpwstr>10, 3, 0, 2</vt:lpwstr>
  </property>
  <property fmtid="{D5CDD505-2E9C-101B-9397-08002B2CF9AE}" pid="18" name="MediaServiceImageTags">
    <vt:lpwstr/>
  </property>
</Properties>
</file>